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맑은 고딕"/>
              </a:rPr>
              <a:t>00  개발 배경 및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91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CA3AF"/>
                </a:solidFill>
                <a:latin typeface="맑은 고딕"/>
              </a:rPr>
              <a:t>IB 영업현황 관리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111"/>
                </a:solidFill>
                <a:latin typeface="맑은 고딕"/>
              </a:rPr>
              <a:t>Excel 분산 관리의 한계,
IB 딜 파이프라인 통합 디지털화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부서별 수기 입력 → 실시간 통합 플랫폼 · FTP 기반 수익성 자동 산출 · 조직 계층 집계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2697480" cy="1261872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59"/>
            <a:ext cx="2423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맑은 고딕"/>
              </a:rPr>
              <a:t>Excel
분산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9463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</a:rPr>
              <a:t>부서별 파일 → 통합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1874519"/>
            <a:ext cx="2697480" cy="1261872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965959"/>
            <a:ext cx="2423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맑은 고딕"/>
              </a:rPr>
              <a:t>수기 계산
오류 빈발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569463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</a:rPr>
              <a:t>FTP 원가·수익성 매번 수동 계산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1874519"/>
            <a:ext cx="2697480" cy="1261872"/>
          </a:xfrm>
          <a:prstGeom prst="roundRect">
            <a:avLst>
              <a:gd name="adj" fmla="val 4000"/>
            </a:avLst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965959"/>
            <a:ext cx="2423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맑은 고딕"/>
              </a:rPr>
              <a:t>방치 딜
추적 불가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569463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</a:rPr>
              <a:t>마지막 수정일 관리 수단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8824" y="1874519"/>
            <a:ext cx="2697480" cy="1261872"/>
          </a:xfrm>
          <a:prstGeom prst="roundRect">
            <a:avLst>
              <a:gd name="adj" fmla="val 4000"/>
            </a:avLst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1965959"/>
            <a:ext cx="2423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맑은 고딕"/>
              </a:rPr>
              <a:t>통합 통계
부재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704" y="2569463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</a:rPr>
              <a:t>본부·부문 집계 → 보고 지연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91840"/>
            <a:ext cx="3749039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45643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맑은 고딕"/>
              </a:rPr>
              <a:t>딜 파이프라인 통합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767328"/>
            <a:ext cx="342899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· </a:t>
            </a:r>
            <a:r>
              <a:rPr sz="1050">
                <a:solidFill>
                  <a:srgbClr val="6B7280"/>
                </a:solidFill>
                <a:latin typeface="맑은 고딕"/>
              </a:rPr>
              <a:t>신규딜 입력 → 진행단계 추적 → 인라인 편집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· </a:t>
            </a:r>
            <a:r>
              <a:rPr sz="1050">
                <a:solidFill>
                  <a:srgbClr val="6B7280"/>
                </a:solidFill>
                <a:latin typeface="맑은 고딕"/>
              </a:rPr>
              <a:t>단일 · 복합 Deal 다중 트랜치 구조 지원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· </a:t>
            </a:r>
            <a:r>
              <a:rPr sz="1050">
                <a:solidFill>
                  <a:srgbClr val="6B7280"/>
                </a:solidFill>
                <a:latin typeface="맑은 고딕"/>
              </a:rPr>
              <a:t>조직 권한별 데이터 범위 자동 필터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399" y="3291840"/>
            <a:ext cx="3749039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7" y="345643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맑은 고딕"/>
              </a:rPr>
              <a:t>FTP 기반 수익성 자동 산출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7" y="3767328"/>
            <a:ext cx="342899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· </a:t>
            </a:r>
            <a:r>
              <a:rPr sz="1050">
                <a:solidFill>
                  <a:srgbClr val="6B7280"/>
                </a:solidFill>
                <a:latin typeface="맑은 고딕"/>
              </a:rPr>
              <a:t>FTP 선형보간으로 자본원가 자동 계산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· </a:t>
            </a:r>
            <a:r>
              <a:rPr sz="1050">
                <a:solidFill>
                  <a:srgbClr val="6B7280"/>
                </a:solidFill>
                <a:latin typeface="맑은 고딕"/>
              </a:rPr>
              <a:t>Carry손익 = 이자수익 − 자본원가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· </a:t>
            </a:r>
            <a:r>
              <a:rPr sz="1050">
                <a:solidFill>
                  <a:srgbClr val="6B7280"/>
                </a:solidFill>
                <a:latin typeface="맑은 고딕"/>
              </a:rPr>
              <a:t>저장 버튼 클릭 시 전체 재산출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8" y="3291840"/>
            <a:ext cx="3749039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6" y="345643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맑은 고딕"/>
              </a:rPr>
              <a:t>조직 계층 집계 통계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6" y="3767328"/>
            <a:ext cx="342899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· </a:t>
            </a:r>
            <a:r>
              <a:rPr sz="1050">
                <a:solidFill>
                  <a:srgbClr val="6B7280"/>
                </a:solidFill>
                <a:latin typeface="맑은 고딕"/>
              </a:rPr>
              <a:t>부서 → 본부 → IB부문 권한별 집계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· </a:t>
            </a:r>
            <a:r>
              <a:rPr sz="1050">
                <a:solidFill>
                  <a:srgbClr val="6B7280"/>
                </a:solidFill>
                <a:latin typeface="맑은 고딕"/>
              </a:rPr>
              <a:t>KPI 5개 · 가로차트 · 요약테이블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· </a:t>
            </a:r>
            <a:r>
              <a:rPr sz="1050">
                <a:solidFill>
                  <a:srgbClr val="6B7280"/>
                </a:solidFill>
                <a:latin typeface="맑은 고딕"/>
              </a:rPr>
              <a:t>경영진 보고용 즉시 출력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83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맑은 고딕"/>
              </a:rPr>
              <a:t>01  조직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91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CA3AF"/>
                </a:solidFill>
                <a:latin typeface="맑은 고딕"/>
              </a:rPr>
              <a:t>IB 영업현황 관리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111"/>
                </a:solidFill>
                <a:latin typeface="맑은 고딕"/>
              </a:rPr>
              <a:t>3단계 선택만으로
권한과 데이터 범위 자동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로그인 없이 역할 · 본부 · 부서 선택 → session_state에 view_level 저장 → 이후 모든 화면에 자동 반영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2560320" cy="868680"/>
          </a:xfrm>
          <a:prstGeom prst="roundRect">
            <a:avLst>
              <a:gd name="adj" fmla="val 4000"/>
            </a:avLst>
          </a:prstGeom>
          <a:solidFill>
            <a:srgbClr val="EBF2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맑은 고딕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맑은 고딕"/>
              </a:rPr>
              <a:t>역할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505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영업조직 / 관리자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194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D4ED8"/>
                </a:solidFill>
                <a:latin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1920240"/>
            <a:ext cx="256032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19933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맑은 고딕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1762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맑은 고딕"/>
              </a:rPr>
              <a:t>본부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4505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기업금융 / CM / 대체투자
투자금융 / IB직속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2194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D4ED8"/>
                </a:solidFill>
                <a:latin typeface="맑은 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1920240"/>
            <a:ext cx="256032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9933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맑은 고딕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1762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맑은 고딕"/>
              </a:rPr>
              <a:t>부서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4505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본부 소속 부서
(영업조직만 해당)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194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D4ED8"/>
                </a:solidFill>
                <a:latin typeface="맑은 고딕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0032" y="1920240"/>
            <a:ext cx="2560320" cy="868680"/>
          </a:xfrm>
          <a:prstGeom prst="roundRect">
            <a:avLst>
              <a:gd name="adj" fmla="val 4000"/>
            </a:avLst>
          </a:prstGeom>
          <a:solidFill>
            <a:srgbClr val="EBF2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192" y="19933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맑은 고딕"/>
              </a:rPr>
              <a:t>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21762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맑은 고딕"/>
              </a:rPr>
              <a:t>홈 진입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7192" y="24505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view_level 확정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999232"/>
            <a:ext cx="361188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182112"/>
            <a:ext cx="1234440" cy="2560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91256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맑은 고딕"/>
              </a:rPr>
              <a:t>department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5661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맑은 고딕"/>
              </a:rPr>
              <a:t>영업조직 부서 선택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9136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본인 부서 딜만 조회 · 입력 · 수정 가능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462272"/>
            <a:ext cx="3246120" cy="127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5720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59669"/>
                </a:solidFill>
                <a:latin typeface="맑은 고딕"/>
              </a:rPr>
              <a:t>대상: 영업조직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0248" y="2999232"/>
            <a:ext cx="361188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53128" y="3182112"/>
            <a:ext cx="1234440" cy="2560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8" y="3191256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맑은 고딕"/>
              </a:rPr>
              <a:t>division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35661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맑은 고딕"/>
              </a:rPr>
              <a:t>관리자 본부 선택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53128" y="39136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해당 본부 전 부서 딜 집계 조회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53128" y="4462272"/>
            <a:ext cx="3246120" cy="127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53128" y="45720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D4ED8"/>
                </a:solidFill>
                <a:latin typeface="맑은 고딕"/>
              </a:rPr>
              <a:t>대상: 관리자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83296" y="2999232"/>
            <a:ext cx="3611880" cy="2606040"/>
          </a:xfrm>
          <a:prstGeom prst="roundRect">
            <a:avLst>
              <a:gd name="adj" fmla="val 4000"/>
            </a:avLst>
          </a:prstGeom>
          <a:solidFill>
            <a:srgbClr val="EBF2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66176" y="3182112"/>
            <a:ext cx="1234440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6176" y="3191256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6176" y="35661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맑은 고딕"/>
              </a:rPr>
              <a:t>관리자 IB부문통합 선택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6" y="39136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전 본부 · 부서 딜 통합 조회 및 통계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66176" y="4462272"/>
            <a:ext cx="3246120" cy="127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6176" y="45720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D4ED8"/>
                </a:solidFill>
                <a:latin typeface="맑은 고딕"/>
              </a:rPr>
              <a:t>대상: 관리자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맑은 고딕"/>
              </a:rPr>
              <a:t>02  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91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CA3AF"/>
                </a:solidFill>
                <a:latin typeface="맑은 고딕"/>
              </a:rPr>
              <a:t>IB 영업현황 관리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111"/>
                </a:solidFill>
                <a:latin typeface="맑은 고딕"/>
              </a:rPr>
              <a:t>역할에 따라 자동 활성화되는
4가지 핵심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우상단 '← 뒤로 / ⌂ 조직선택' 버튼이 모든 화면에 고정 표시 · 조직선택 버튼은 session_state 전체 초기화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8528"/>
            <a:ext cx="5349240" cy="2606040"/>
          </a:xfrm>
          <a:prstGeom prst="roundRect">
            <a:avLst>
              <a:gd name="adj" fmla="val 4000"/>
            </a:avLst>
          </a:prstGeom>
          <a:solidFill>
            <a:srgbClr val="ECFFF4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38528"/>
            <a:ext cx="41148" cy="2606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21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맑은 고딕"/>
              </a:rPr>
              <a:t>✏️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396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맑은 고딕"/>
              </a:rPr>
              <a:t>신규딜 입력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6008" y="2139696"/>
            <a:ext cx="1005840" cy="2468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139696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영업조직 전용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59689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· 단일·복합 Deal 구조 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14553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· 3단 연동 드롭다운 입력 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69417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· 당사투자금액=0 시 수익률 비활성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38528"/>
            <a:ext cx="5349240" cy="2606040"/>
          </a:xfrm>
          <a:prstGeom prst="roundRect">
            <a:avLst>
              <a:gd name="adj" fmla="val 4000"/>
            </a:avLst>
          </a:prstGeom>
          <a:solidFill>
            <a:srgbClr val="EBF2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938528"/>
            <a:ext cx="41148" cy="2606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121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맑은 고딕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1396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맑은 고딕"/>
              </a:rPr>
              <a:t>딜 리스트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96728" y="2139696"/>
            <a:ext cx="1005840" cy="2468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96728" y="2139696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공통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59689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· 전체 딜 현황 인라인 편집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14553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· FTP 원가·Carry손익 자동 산출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69417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· 마지막수정일 자동 갱신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81728"/>
            <a:ext cx="5349240" cy="2606040"/>
          </a:xfrm>
          <a:prstGeom prst="roundRect">
            <a:avLst>
              <a:gd name="adj" fmla="val 4000"/>
            </a:avLst>
          </a:prstGeom>
          <a:solidFill>
            <a:srgbClr val="EBF2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681728"/>
            <a:ext cx="41148" cy="2606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8646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맑은 고딕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8828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맑은 고딕"/>
              </a:rPr>
              <a:t>영업통계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36008" y="4882896"/>
            <a:ext cx="1005840" cy="2468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6008" y="4882896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공통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534009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· KPI 5개 + 가로 막대차트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88873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· 진행단계·투자유형·사업유형 분석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43737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· 본부별·부서별 요약테이블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681728"/>
            <a:ext cx="5349240" cy="2606040"/>
          </a:xfrm>
          <a:prstGeom prst="roundRect">
            <a:avLst>
              <a:gd name="adj" fmla="val 4000"/>
            </a:avLst>
          </a:prstGeom>
          <a:solidFill>
            <a:srgbClr val="EBF2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681728"/>
            <a:ext cx="41148" cy="2606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48646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맑은 고딕"/>
              </a:rPr>
              <a:t>⚙️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8828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맑은 고딕"/>
              </a:rPr>
              <a:t>FTP 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96728" y="4882896"/>
            <a:ext cx="1005840" cy="2468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96728" y="4882896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관리자 전용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534009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· 종금Book / IB Book 금리 입력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588873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· 9개 만기 구간 선형보간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643737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맑은 고딕"/>
              </a:rPr>
              <a:t>· 변경 즉시 전체 수익성 재산출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83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맑은 고딕"/>
              </a:rPr>
              <a:t>03  신규딜 입력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91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CA3AF"/>
                </a:solidFill>
                <a:latin typeface="맑은 고딕"/>
              </a:rPr>
              <a:t>IB 영업현황 관리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111"/>
                </a:solidFill>
                <a:latin typeface="맑은 고딕"/>
              </a:rPr>
              <a:t>투자유형 → 상품유형 → Book유형
3단 연동 드롭다운으로 입력 오류 차단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상위 선택 변경 시 하위 드롭다운 자동 리셋 · 당사투자금액=0이면 수익률 입력 비활성 · 복합 Deal은 트랜치 멀티셀렉트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8528"/>
            <a:ext cx="530352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입력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4937760" cy="13716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맑은 고딕"/>
              </a:rPr>
              <a:t>STEP A  —  공통 딜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24912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딜명  ·  진행단계  ·  사업유형  ·  투자구조
CIB여부  ·  모험자본여부  ·  전체딜규모  ·  기표예정일
상세내용 / 진행상황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13632"/>
            <a:ext cx="2468880" cy="2331720"/>
          </a:xfrm>
          <a:prstGeom prst="rect">
            <a:avLst/>
          </a:prstGeom>
          <a:solidFill>
            <a:srgbClr val="EBF2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13632"/>
            <a:ext cx="24688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맑은 고딕"/>
              </a:rPr>
              <a:t>단일 Deal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34256"/>
            <a:ext cx="221284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트랜치 섹션 1개
투자유형·상품유형·Book유형
수익률·수수료·기간 입력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913632"/>
            <a:ext cx="2468880" cy="233172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3913632"/>
            <a:ext cx="246888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4023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맑은 고딕"/>
              </a:rPr>
              <a:t>복합 Deal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334256"/>
            <a:ext cx="221284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트랜치 멀티셀렉트 (2개↑)
선택값이 각 섹션 헤더로 바인딩
트랜치 타입 자동 고정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938528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0574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3단 연동 로직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377440"/>
            <a:ext cx="5120640" cy="171907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56248" y="2514600"/>
            <a:ext cx="86868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254203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투자유형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2560320"/>
            <a:ext cx="4828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D0"/>
                </a:solidFill>
                <a:latin typeface="맑은 고딕"/>
              </a:rPr>
              <a:t>→  허용 상품유형 목록 즉시 교체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30568" y="2999232"/>
            <a:ext cx="86868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0568" y="30266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상품유형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3044952"/>
            <a:ext cx="4553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D0"/>
                </a:solidFill>
                <a:latin typeface="맑은 고딕"/>
              </a:rPr>
              <a:t>→  허용 Book유형 + 수익률구분 교체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68312" y="3483864"/>
            <a:ext cx="86868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68312" y="35112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Book유형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2" y="3529584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D0"/>
                </a:solidFill>
                <a:latin typeface="맑은 고딕"/>
              </a:rPr>
              <a:t>→  FTP 적용 여부 자동 결정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206240"/>
            <a:ext cx="5120640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2702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맑은 고딕"/>
              </a:rPr>
              <a:t>① 수익률 입력 비활성화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4714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당사투자금액 = 0이면 투자수익률구분·투자수익률 자동 비활성
→ 주선·인수 전용 딜 오입력 방지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4956048"/>
            <a:ext cx="5120640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5020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맑은 고딕"/>
              </a:rPr>
              <a:t>② 복합 Deal 트랜치 멀티셀렉트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2212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[단일순위 / 선순위 / 중후순위 / EBL / Mezzanine / Equity]
선택 순서대로 트랜치 1·2·3 배정, 타입 필드 자동 고정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5705856"/>
            <a:ext cx="5120640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576986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맑은 고딕"/>
              </a:rPr>
              <a:t>③ 저장 시 deal_id 공유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971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복합 Deal은 같은 deal_id를 가진 N개 행으로 CSV 저장
→ 통계에서 deal_id 기준으로 딜 수 집계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83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맑은 고딕"/>
              </a:rPr>
              <a:t>04  딜 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91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CA3AF"/>
                </a:solidFill>
                <a:latin typeface="맑은 고딕"/>
              </a:rPr>
              <a:t>IB 영업현황 관리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111"/>
                </a:solidFill>
                <a:latin typeface="맑은 고딕"/>
              </a:rPr>
              <a:t>변경된 행만 감지해
마지막수정일 자동 추적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data_editor 기반 인라인 편집 · 저장 시 FTP 원가·Carry손익·순영업수익 자동 재산출 · 방치 딜 추적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8528"/>
            <a:ext cx="557784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컬럼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59152"/>
            <a:ext cx="5212080" cy="585216"/>
          </a:xfrm>
          <a:prstGeom prst="rect">
            <a:avLst/>
          </a:prstGeom>
          <a:solidFill>
            <a:srgbClr val="F3F4F6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맑은 고딕"/>
              </a:rPr>
              <a:t>식별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7919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최초작성일 · 마지막수정일 · 부서 · 진행단계 · 딜명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523744"/>
            <a:ext cx="731520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5237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읽기전용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80944"/>
            <a:ext cx="521208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5409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맑은 고딕"/>
              </a:rPr>
              <a:t>딜 분류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0098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사업유형 · 상품유형 · 투자유형 · 트랜치#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145536"/>
            <a:ext cx="73152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14553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편집가능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02736"/>
            <a:ext cx="5212080" cy="585216"/>
          </a:xfrm>
          <a:prstGeom prst="rect">
            <a:avLst/>
          </a:prstGeom>
          <a:solidFill>
            <a:srgbClr val="EBF2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7588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맑은 고딕"/>
              </a:rPr>
              <a:t>금액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2277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전체딜규모 · 당사주선인수 · 리소스Book유형 · 투자금액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3767328"/>
            <a:ext cx="73152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7673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수익 연동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24528"/>
            <a:ext cx="5212080" cy="585216"/>
          </a:xfrm>
          <a:prstGeom prst="rect">
            <a:avLst/>
          </a:prstGeom>
          <a:solidFill>
            <a:srgbClr val="EBF2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9768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맑은 고딕"/>
              </a:rPr>
              <a:t>수익률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4456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투자수익률구분 · 투자수익률 · 투자기간만기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4389120"/>
            <a:ext cx="73152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3891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수익 연동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46320"/>
            <a:ext cx="5212080" cy="585216"/>
          </a:xfrm>
          <a:prstGeom prst="rect">
            <a:avLst/>
          </a:prstGeom>
          <a:solidFill>
            <a:srgbClr val="ECFFF4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1947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맑은 고딕"/>
              </a:rPr>
              <a:t>자동 산출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6636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FTP유형 · FTP원가율 · Carry손익 · 순영업수익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5010912"/>
            <a:ext cx="73152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50109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읽기전용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468112"/>
            <a:ext cx="521208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54126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맑은 고딕"/>
              </a:rPr>
              <a:t>수수료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78815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선취수수료구분 · 선취수수료금액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5632704"/>
            <a:ext cx="73152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56327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편집가능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1938528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205740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자동 산출 로직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2359152"/>
            <a:ext cx="4892040" cy="1207008"/>
          </a:xfrm>
          <a:prstGeom prst="rect">
            <a:avLst/>
          </a:prstGeom>
          <a:solidFill>
            <a:srgbClr val="F9FAF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75120" y="2359152"/>
            <a:ext cx="41148" cy="1207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39712" y="245059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맑은 고딕"/>
              </a:rPr>
              <a:t>FTP 원가율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9712" y="272491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</a:rPr>
              <a:t>Book 종류에 따라 종금Book / IB Book FTP 테이블 선택
numpy.interp()로 투자기간 만기 구간 선형보간 자동 계산
채무보증Book · Book미사용 · 그룹펀드편입 → 미적용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3694176"/>
            <a:ext cx="4892040" cy="1207008"/>
          </a:xfrm>
          <a:prstGeom prst="rect">
            <a:avLst/>
          </a:prstGeom>
          <a:solidFill>
            <a:srgbClr val="F9FAF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75120" y="3694176"/>
            <a:ext cx="41148" cy="1207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39712" y="378561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맑은 고딕"/>
              </a:rPr>
              <a:t>Carry 손익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9712" y="4059936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</a:rPr>
              <a:t>보유월수 = min(투자기간만기,  기표일→12/31 잔여월수)
Carry손익 = 투자금액×(수익률−FTP%) / 100 × 보유월수/12
순영업수익 = 선취수수료 + Carry손익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5029200"/>
            <a:ext cx="4892040" cy="1207008"/>
          </a:xfrm>
          <a:prstGeom prst="rect">
            <a:avLst/>
          </a:prstGeom>
          <a:solidFill>
            <a:srgbClr val="F9FAF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75120" y="5029200"/>
            <a:ext cx="41148" cy="1207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39712" y="51206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맑은 고딕"/>
              </a:rPr>
              <a:t>마지막수정일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9712" y="539496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</a:rPr>
              <a:t>저장 버튼 클릭 시 deal_id + 트랜치번호 복합키로 비교
실제 변경된 행만 입력일 컬럼을 오늘 날짜로 업데이트
→ 방치 딜 추적 · 영업 활동 모니터링 가능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583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맑은 고딕"/>
              </a:rPr>
              <a:t>05  영업통계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91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CA3AF"/>
                </a:solidFill>
                <a:latin typeface="맑은 고딕"/>
              </a:rPr>
              <a:t>IB 영업현황 관리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111"/>
                </a:solidFill>
                <a:latin typeface="맑은 고딕"/>
              </a:rPr>
              <a:t>선택한 조직 범위,
딜 수·금액·수익 즉시 집계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"[조직명] 영업통계" 타이틀 자동 표시 · view_level별 차트 및 요약테이블 자동 분기 · 0값 항목도 항상 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217627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11680"/>
            <a:ext cx="1947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맑은 고딕"/>
              </a:rPr>
              <a:t>12건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578608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맑은 고딕"/>
              </a:rPr>
              <a:t>전체 딜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816352"/>
            <a:ext cx="1947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deal_id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1920240"/>
            <a:ext cx="217627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9504" y="2011680"/>
            <a:ext cx="1947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맑은 고딕"/>
              </a:rPr>
              <a:t>2,450억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578608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맑은 고딕"/>
              </a:rPr>
              <a:t>당사 주선금액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816352"/>
            <a:ext cx="1947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당사주선/인수규모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92624" y="1920240"/>
            <a:ext cx="217627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2011680"/>
            <a:ext cx="1947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맑은 고딕"/>
              </a:rPr>
              <a:t>1,200억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578608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맑은 고딕"/>
              </a:rPr>
              <a:t>당사 투자금액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816352"/>
            <a:ext cx="1947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정수 단위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0336" y="1920240"/>
            <a:ext cx="217627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8" y="2011680"/>
            <a:ext cx="1947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맑은 고딕"/>
              </a:rPr>
              <a:t>18.5억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2578608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맑은 고딕"/>
              </a:rPr>
              <a:t>선취수수료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816352"/>
            <a:ext cx="1947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소수점 1자리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920240"/>
            <a:ext cx="2176272" cy="1207008"/>
          </a:xfrm>
          <a:prstGeom prst="roundRect">
            <a:avLst>
              <a:gd name="adj" fmla="val 4000"/>
            </a:avLst>
          </a:prstGeom>
          <a:solidFill>
            <a:srgbClr val="EBF2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011680"/>
            <a:ext cx="1947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4ED8"/>
                </a:solidFill>
                <a:latin typeface="맑은 고딕"/>
              </a:rPr>
              <a:t>42.3억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578608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맑은 고딕"/>
              </a:rPr>
              <a:t>순영업수익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816352"/>
            <a:ext cx="1947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소수점 1자리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291840"/>
            <a:ext cx="5577840" cy="3154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40156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맑은 고딕"/>
              </a:rPr>
              <a:t>진행단계별 딜 수 (정수 축 · 0 기준 고정)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703320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내부검토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73352" y="3703320"/>
            <a:ext cx="3886200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73352" y="3703320"/>
            <a:ext cx="1554480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32704" y="37033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0507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IB실무협의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73352" y="4050792"/>
            <a:ext cx="3886200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73352" y="4050792"/>
            <a:ext cx="1165860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32704" y="40507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9826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투심위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73352" y="4398264"/>
            <a:ext cx="3886200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73352" y="4398264"/>
            <a:ext cx="777240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32704" y="43982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74573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승인완료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73352" y="4745736"/>
            <a:ext cx="3886200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73352" y="4745736"/>
            <a:ext cx="1165860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32704" y="47457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16636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맑은 고딕"/>
              </a:rPr>
              <a:t>투자유형별 당사 투자금액 (억원)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546811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직접대출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73352" y="5468112"/>
            <a:ext cx="3886200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73352" y="5468112"/>
            <a:ext cx="2720340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32704" y="546811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840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78815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PI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73352" y="5788152"/>
            <a:ext cx="3886200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673352" y="5788152"/>
            <a:ext cx="1165860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32704" y="578815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360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1081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단순주선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73352" y="6108192"/>
            <a:ext cx="3886200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32704" y="6108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64282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인수주선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73352" y="6428232"/>
            <a:ext cx="3886200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673352" y="6428232"/>
            <a:ext cx="388620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32704" y="64282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120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92240" y="3291840"/>
            <a:ext cx="5257800" cy="3154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20840" y="3401568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맑은 고딕"/>
              </a:rPr>
              <a:t>진행단계별 요약 테이블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56832" y="3675887"/>
            <a:ext cx="100584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02552" y="3730751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진행단계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62672" y="3675887"/>
            <a:ext cx="384048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08392" y="3730751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CA3AF"/>
                </a:solidFill>
                <a:latin typeface="맑은 고딕"/>
              </a:rPr>
              <a:t>딜수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46720" y="3675887"/>
            <a:ext cx="804672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92440" y="3730751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CA3AF"/>
                </a:solidFill>
                <a:latin typeface="맑은 고딕"/>
              </a:rPr>
              <a:t>주선/인수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51392" y="3675887"/>
            <a:ext cx="804672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97112" y="3730751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CA3AF"/>
                </a:solidFill>
                <a:latin typeface="맑은 고딕"/>
              </a:rPr>
              <a:t>투자금액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56064" y="3675887"/>
            <a:ext cx="658368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01784" y="3730751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CA3AF"/>
                </a:solidFill>
                <a:latin typeface="맑은 고딕"/>
              </a:rPr>
              <a:t>수수료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14432" y="3675887"/>
            <a:ext cx="914400" cy="310896"/>
          </a:xfrm>
          <a:prstGeom prst="rect">
            <a:avLst/>
          </a:prstGeom>
          <a:solidFill>
            <a:srgbClr val="F3F4F6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360152" y="3730751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CA3AF"/>
                </a:solidFill>
                <a:latin typeface="맑은 고딕"/>
              </a:rPr>
              <a:t>순영업수익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56832" y="3986783"/>
            <a:ext cx="100584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02552" y="4041647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맑은 고딕"/>
              </a:rPr>
              <a:t>내부검토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62672" y="3986783"/>
            <a:ext cx="384048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08392" y="4041647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46720" y="3986783"/>
            <a:ext cx="804672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92440" y="4041647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620억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51392" y="3986783"/>
            <a:ext cx="804672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97112" y="4041647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300억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56064" y="3986783"/>
            <a:ext cx="658368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01784" y="4041647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4.2억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314432" y="3986783"/>
            <a:ext cx="91440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360152" y="4041647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10.8억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56832" y="4297679"/>
            <a:ext cx="10058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02552" y="4352543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맑은 고딕"/>
              </a:rPr>
              <a:t>IB실무협의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62672" y="4297679"/>
            <a:ext cx="38404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708392" y="4352543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46720" y="4297679"/>
            <a:ext cx="80467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92440" y="4352543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450억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851392" y="4297679"/>
            <a:ext cx="80467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897112" y="4352543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250억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56064" y="4297679"/>
            <a:ext cx="65836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701784" y="4352543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3.1억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314432" y="4297679"/>
            <a:ext cx="9144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360152" y="4352543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8.3억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656832" y="4608575"/>
            <a:ext cx="100584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702552" y="4663439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맑은 고딕"/>
              </a:rPr>
              <a:t>투심위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662672" y="4608575"/>
            <a:ext cx="384048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708392" y="4663439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46720" y="4608575"/>
            <a:ext cx="804672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092440" y="4663439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380억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851392" y="4608575"/>
            <a:ext cx="804672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897112" y="4663439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180억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656064" y="4608575"/>
            <a:ext cx="658368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701784" y="4663439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2.5억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314432" y="4608575"/>
            <a:ext cx="91440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360152" y="4663439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6.2억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656832" y="4919471"/>
            <a:ext cx="10058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702552" y="4974335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맑은 고딕"/>
              </a:rPr>
              <a:t>승인완료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662672" y="4919471"/>
            <a:ext cx="38404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708392" y="4974335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046720" y="4919471"/>
            <a:ext cx="80467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092440" y="4974335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890억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851392" y="4919471"/>
            <a:ext cx="80467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897112" y="4974335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450억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656064" y="4919471"/>
            <a:ext cx="658368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701784" y="4974335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7.8억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314432" y="4919471"/>
            <a:ext cx="9144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360152" y="4974335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맑은 고딕"/>
              </a:rPr>
              <a:t>14.5억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656832" y="5321808"/>
            <a:ext cx="4983480" cy="868680"/>
          </a:xfrm>
          <a:prstGeom prst="rect">
            <a:avLst/>
          </a:prstGeom>
          <a:solidFill>
            <a:srgbClr val="EBF2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766560" y="5385816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맑은 고딕"/>
              </a:rPr>
              <a:t>view_level별 추가 표시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</a:rPr>
              <a:t>division → 부서별 요약 테이블 추가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</a:rPr>
              <a:t>all (통합) → 본부별 요약 + 부서별 차트 추가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" y="6583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맑은 고딕"/>
              </a:rPr>
              <a:t>06  FTP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91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CA3AF"/>
                </a:solidFill>
                <a:latin typeface="맑은 고딕"/>
              </a:rPr>
              <a:t>IB 영업현황 관리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111"/>
                </a:solidFill>
                <a:latin typeface="맑은 고딕"/>
              </a:rPr>
              <a:t>9개 만기 구간 금리 입력,
전체 딜 수익성 즉시 재산출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관리자 전용 · 종금Book / IB Book 구분 입력 · 저장 즉시 모든 딜의 Carry손익 · 순영업수익 자동 업데이트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8528"/>
            <a:ext cx="5577840" cy="4434840"/>
          </a:xfrm>
          <a:prstGeom prst="roundRect">
            <a:avLst>
              <a:gd name="adj" fmla="val 4000"/>
            </a:avLst>
          </a:prstGeom>
          <a:solidFill>
            <a:srgbClr val="16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103120"/>
            <a:ext cx="5257800" cy="365760"/>
          </a:xfrm>
          <a:prstGeom prst="rect">
            <a:avLst/>
          </a:prstGeom>
          <a:solidFill>
            <a:srgbClr val="1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121408"/>
            <a:ext cx="233172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3969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종금Book FTP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13969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맑은 고딕"/>
              </a:rPr>
              <a:t>IB Book FTP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7860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9개 만기 구간 입력 (% 단위)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52928"/>
            <a:ext cx="1664208" cy="566928"/>
          </a:xfrm>
          <a:prstGeom prst="rect">
            <a:avLst/>
          </a:prstGeom>
          <a:solidFill>
            <a:srgbClr val="1E222A"/>
          </a:solidFill>
          <a:ln w="6350">
            <a:solidFill>
              <a:srgbClr val="2C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9077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1d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127248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맑은 고딕"/>
              </a:rPr>
              <a:t>3.85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852928"/>
            <a:ext cx="1664208" cy="566928"/>
          </a:xfrm>
          <a:prstGeom prst="rect">
            <a:avLst/>
          </a:prstGeom>
          <a:solidFill>
            <a:srgbClr val="1E222A"/>
          </a:solidFill>
          <a:ln w="6350">
            <a:solidFill>
              <a:srgbClr val="2C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7168" y="29077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3127248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맑은 고딕"/>
              </a:rPr>
              <a:t>3.90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852928"/>
            <a:ext cx="1664208" cy="566928"/>
          </a:xfrm>
          <a:prstGeom prst="rect">
            <a:avLst/>
          </a:prstGeom>
          <a:solidFill>
            <a:srgbClr val="1E222A"/>
          </a:solidFill>
          <a:ln w="6350">
            <a:solidFill>
              <a:srgbClr val="2C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290779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3m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3127248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맑은 고딕"/>
              </a:rPr>
              <a:t>3.95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493008"/>
            <a:ext cx="1664208" cy="566928"/>
          </a:xfrm>
          <a:prstGeom prst="rect">
            <a:avLst/>
          </a:prstGeom>
          <a:solidFill>
            <a:srgbClr val="1E222A"/>
          </a:solidFill>
          <a:ln w="6350">
            <a:solidFill>
              <a:srgbClr val="2C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54787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6m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767328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맑은 고딕"/>
              </a:rPr>
              <a:t>4.00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93008"/>
            <a:ext cx="1664208" cy="566928"/>
          </a:xfrm>
          <a:prstGeom prst="rect">
            <a:avLst/>
          </a:prstGeom>
          <a:solidFill>
            <a:srgbClr val="1E222A"/>
          </a:solidFill>
          <a:ln w="6350">
            <a:solidFill>
              <a:srgbClr val="2C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7168" y="354787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1y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3767328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맑은 고딕"/>
              </a:rPr>
              <a:t>4.10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493008"/>
            <a:ext cx="1664208" cy="566928"/>
          </a:xfrm>
          <a:prstGeom prst="rect">
            <a:avLst/>
          </a:prstGeom>
          <a:solidFill>
            <a:srgbClr val="1E222A"/>
          </a:solidFill>
          <a:ln w="6350">
            <a:solidFill>
              <a:srgbClr val="2C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24528" y="354787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2y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3767328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맑은 고딕"/>
              </a:rPr>
              <a:t>4.20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133088"/>
            <a:ext cx="1664208" cy="566928"/>
          </a:xfrm>
          <a:prstGeom prst="rect">
            <a:avLst/>
          </a:prstGeom>
          <a:solidFill>
            <a:srgbClr val="1E222A"/>
          </a:solidFill>
          <a:ln w="6350">
            <a:solidFill>
              <a:srgbClr val="2C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18795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3y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407408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맑은 고딕"/>
              </a:rPr>
              <a:t>4.35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4133088"/>
            <a:ext cx="1664208" cy="566928"/>
          </a:xfrm>
          <a:prstGeom prst="rect">
            <a:avLst/>
          </a:prstGeom>
          <a:solidFill>
            <a:srgbClr val="1E222A"/>
          </a:solidFill>
          <a:ln w="6350">
            <a:solidFill>
              <a:srgbClr val="2C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87168" y="418795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5y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4407408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맑은 고딕"/>
              </a:rPr>
              <a:t>4.50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4133088"/>
            <a:ext cx="1664208" cy="566928"/>
          </a:xfrm>
          <a:prstGeom prst="rect">
            <a:avLst/>
          </a:prstGeom>
          <a:solidFill>
            <a:srgbClr val="1E222A"/>
          </a:solidFill>
          <a:ln w="6350">
            <a:solidFill>
              <a:srgbClr val="2C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24528" y="418795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10y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4528" y="4407408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맑은 고딕"/>
              </a:rPr>
              <a:t>4.70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340096"/>
            <a:ext cx="5230368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67528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저장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1938528"/>
            <a:ext cx="5257800" cy="21762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2029968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Book유형별 FTP 적용 기준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2331720"/>
            <a:ext cx="2286000" cy="320040"/>
          </a:xfrm>
          <a:prstGeom prst="rect">
            <a:avLst/>
          </a:prstGeom>
          <a:solidFill>
            <a:srgbClr val="F3F4F6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8272" y="23957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Book유형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2331720"/>
            <a:ext cx="658368" cy="320040"/>
          </a:xfrm>
          <a:prstGeom prst="rect">
            <a:avLst/>
          </a:prstGeom>
          <a:solidFill>
            <a:srgbClr val="F3F4F6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34272" y="239572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FTP 적용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19488" y="2331720"/>
            <a:ext cx="1901952" cy="320040"/>
          </a:xfrm>
          <a:prstGeom prst="rect">
            <a:avLst/>
          </a:prstGeom>
          <a:solidFill>
            <a:srgbClr val="F3F4F6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2395728"/>
            <a:ext cx="1810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사용 테이블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2651760"/>
            <a:ext cx="22860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48272" y="27157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맑은 고딕"/>
              </a:rPr>
              <a:t>종금Book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20" y="2651760"/>
            <a:ext cx="6583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06840" y="2706624"/>
            <a:ext cx="530352" cy="20116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2715768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D4ED8"/>
                </a:solidFill>
                <a:latin typeface="맑은 고딕"/>
              </a:rPr>
              <a:t>적용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19488" y="2651760"/>
            <a:ext cx="1901952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0" y="2715768"/>
            <a:ext cx="1810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맑은 고딕"/>
              </a:rPr>
              <a:t>종금Book FTP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2971800"/>
            <a:ext cx="2286000" cy="320040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48272" y="30358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맑은 고딕"/>
              </a:rPr>
              <a:t>셀다운 · PI · ECM DCM · 메자닌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2971800"/>
            <a:ext cx="658368" cy="320040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06840" y="3026664"/>
            <a:ext cx="530352" cy="20116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06840" y="3035808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D4ED8"/>
                </a:solidFill>
                <a:latin typeface="맑은 고딕"/>
              </a:rPr>
              <a:t>적용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19488" y="2971800"/>
            <a:ext cx="1901952" cy="320040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0" y="3035808"/>
            <a:ext cx="1810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맑은 고딕"/>
              </a:rPr>
              <a:t>IB Book FTP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5120" y="3291840"/>
            <a:ext cx="22860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48272" y="33558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맑은 고딕"/>
              </a:rPr>
              <a:t>채무보증Book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61120" y="3291840"/>
            <a:ext cx="6583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06840" y="3346704"/>
            <a:ext cx="530352" cy="20116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06840" y="3355848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DC2626"/>
                </a:solidFill>
                <a:latin typeface="맑은 고딕"/>
              </a:rPr>
              <a:t>미적용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19488" y="3291840"/>
            <a:ext cx="1901952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92640" y="3355848"/>
            <a:ext cx="1810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맑은 고딕"/>
              </a:rPr>
              <a:t>자본원가 = 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75120" y="3611880"/>
            <a:ext cx="2286000" cy="320040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48272" y="36758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맑은 고딕"/>
              </a:rPr>
              <a:t>Book미사용 · 그룹펀드편입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61120" y="3611880"/>
            <a:ext cx="658368" cy="320040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06840" y="3666744"/>
            <a:ext cx="530352" cy="20116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06840" y="3675888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DC2626"/>
                </a:solidFill>
                <a:latin typeface="맑은 고딕"/>
              </a:rPr>
              <a:t>미적용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19488" y="3611880"/>
            <a:ext cx="1901952" cy="320040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0" y="3675888"/>
            <a:ext cx="1810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맑은 고딕"/>
              </a:rPr>
              <a:t>자본원가 = 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92240" y="4224528"/>
            <a:ext cx="525780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92240" y="4224528"/>
            <a:ext cx="41148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75120" y="431596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맑은 고딕"/>
              </a:rPr>
              <a:t>선형 보간  (Linear Interpolation)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75120" y="4608576"/>
            <a:ext cx="4937760" cy="594360"/>
          </a:xfrm>
          <a:prstGeom prst="rect">
            <a:avLst/>
          </a:prstGeom>
          <a:solidFill>
            <a:srgbClr val="F1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66560" y="463600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맑은 고딕"/>
              </a:rPr>
              <a:t>numpy.interp(18, [12, 24], [4.10, 4.20])  →  4.15%
(1y~2y 사이 18개월: 비례 보간)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92240" y="5413248"/>
            <a:ext cx="5257800" cy="914400"/>
          </a:xfrm>
          <a:prstGeom prst="roundRect">
            <a:avLst>
              <a:gd name="adj" fmla="val 4000"/>
            </a:avLst>
          </a:prstGeom>
          <a:solidFill>
            <a:srgbClr val="EBF2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93408" y="550468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맑은 고딕"/>
              </a:rPr>
              <a:t>FTP 미등록 시  →  FTP원가율 · Carry손익 · 순영업수익 모두 "–" 표시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93408" y="579729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맑은 고딕"/>
              </a:rPr>
              <a:t>FTP 등록 후  →  전체 딜 자동 재산출 · FTP 변경 이력 누적 보관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6583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맑은 고딕"/>
              </a:rPr>
              <a:t>07 / 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88152" y="658368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CA3AF"/>
                </a:solidFill>
                <a:latin typeface="맑은 고딕"/>
              </a:rPr>
              <a:t>Streamlit PoC · Python 3.11 · CSV 저장소 · FTP 선형보간 · Firebase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